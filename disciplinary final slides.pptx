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Raleway"/>
      <p:regular r:id="rId15"/>
      <p:bold r:id="rId16"/>
      <p:italic r:id="rId17"/>
      <p:boldItalic r:id="rId18"/>
    </p:embeddedFont>
    <p:embeddedFont>
      <p:font typeface="La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fntdata"/><Relationship Id="rId11" Type="http://schemas.openxmlformats.org/officeDocument/2006/relationships/slide" Target="slides/slide6.xml"/><Relationship Id="rId22" Type="http://schemas.openxmlformats.org/officeDocument/2006/relationships/font" Target="fonts/Lato-boldItalic.fntdata"/><Relationship Id="rId10" Type="http://schemas.openxmlformats.org/officeDocument/2006/relationships/slide" Target="slides/slide5.xml"/><Relationship Id="rId21" Type="http://schemas.openxmlformats.org/officeDocument/2006/relationships/font" Target="fonts/Lato-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aleway-regular.fntdata"/><Relationship Id="rId14" Type="http://schemas.openxmlformats.org/officeDocument/2006/relationships/slide" Target="slides/slide9.xml"/><Relationship Id="rId17" Type="http://schemas.openxmlformats.org/officeDocument/2006/relationships/font" Target="fonts/Raleway-italic.fntdata"/><Relationship Id="rId16" Type="http://schemas.openxmlformats.org/officeDocument/2006/relationships/font" Target="fonts/Raleway-bold.fntdata"/><Relationship Id="rId5" Type="http://schemas.openxmlformats.org/officeDocument/2006/relationships/notesMaster" Target="notesMasters/notesMaster1.xml"/><Relationship Id="rId19" Type="http://schemas.openxmlformats.org/officeDocument/2006/relationships/font" Target="fonts/Lato-regular.fntdata"/><Relationship Id="rId6" Type="http://schemas.openxmlformats.org/officeDocument/2006/relationships/slide" Target="slides/slide1.xml"/><Relationship Id="rId18" Type="http://schemas.openxmlformats.org/officeDocument/2006/relationships/font" Target="fonts/Raleway-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c6fa3c898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c6fa3c89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200000"/>
              </a:lnSpc>
              <a:spcBef>
                <a:spcPts val="1200"/>
              </a:spcBef>
              <a:spcAft>
                <a:spcPts val="1200"/>
              </a:spcAft>
              <a:buNone/>
            </a:pPr>
            <a:r>
              <a:rPr lang="en" sz="1200">
                <a:solidFill>
                  <a:schemeClr val="dk1"/>
                </a:solidFill>
                <a:latin typeface="Times New Roman"/>
                <a:ea typeface="Times New Roman"/>
                <a:cs typeface="Times New Roman"/>
                <a:sym typeface="Times New Roman"/>
              </a:rPr>
              <a:t>On September 11th, 2001, the United States experienced one of the most devastating terrorist attacks in modern history. Four planes were hijacked, two struck the World Trade Center in New York City, one struck the Pentagon in Virginia, while the final plane crashed in Pennsylvania. In New York City 2,753 lives were lost, 184 died at the Pentagon, and all 40 passengers and crew of Flight 93 that crashed in Pennsylvania were lost. The attacks reshaped American culture, politics, religion, philosophy, literature, and artistic expression in ways that continue to influence society today. This presentation will examine the cultural significance of 9/11 through the multiple academic disciplines in order to understand how this singular event changed both the United States and the world.</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c6fa3c898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c6fa3c89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200">
                <a:solidFill>
                  <a:schemeClr val="dk1"/>
                </a:solidFill>
                <a:latin typeface="Times New Roman"/>
                <a:ea typeface="Times New Roman"/>
                <a:cs typeface="Times New Roman"/>
                <a:sym typeface="Times New Roman"/>
              </a:rPr>
              <a:t>September 11th 2001 is often remembered for the attacks, but the ramifications extend beyond the events of that day. American culture was reshaped by the attacks changing how people viewed safety, freedom, religion, national identity, and global conflict. New security measures became part of daily life, patriotism intensified across the country, and public discussions about terrorism became more prominent in politics and media. The cultural response to the attacks of 9/11 can be better understood through multiple academic disciplines. History helps explain the political and social changes that followed. Questions about morality, fear, and belief are examined in philosophy and religion. Literature and fine arts divulge how Americans express grief, trauma, and national identity through creative works. Together, these disciplines show that 9/11 permanently transformed American society in ways that are visible still today.</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c6fa3c898_0_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c6fa3c89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200">
                <a:solidFill>
                  <a:schemeClr val="dk1"/>
                </a:solidFill>
                <a:latin typeface="Times New Roman"/>
                <a:ea typeface="Times New Roman"/>
                <a:cs typeface="Times New Roman"/>
                <a:sym typeface="Times New Roman"/>
              </a:rPr>
              <a:t>A historically significant consequence of the 9/11 attacks was the transformation of terrorism from a solely criminal issue to one that involved military action. Previous terror attacks had been handled by law enforcement, courts and intelligence agencies. However, after the attacks of 9/11 the United States declared a Global War on Terror; this justified the military action and the increased security measures at home. The war was also used as justification for the invocation of NATO Article 5, which was and remains the first time this article has been invoked. The USA PATRIOT Act, a landmark security legislation that came as a response to the attacks. The act increased the surveillance capabilities for law enforcement and allowed these agencies greater access to personal communications and financial records. These were viewed by many as necessary for public safety but critics argued they threatened civil liberties and privacy rights. Detention centers such as Guantanamo Bay and the use of what was termed as “enhanced interrogation techniques”, which was the use of torture in interrogation are other controversial consequences of the attacks. These policies sparked an ongoing debate on how the United States handles human rights, national security, and limits to governmental power. 9/11 marked a turning point in how the United States balanced security and freedom and is a debate that continues today.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dd99bb5a46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dd99bb5a4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200">
                <a:solidFill>
                  <a:schemeClr val="dk1"/>
                </a:solidFill>
                <a:latin typeface="Times New Roman"/>
                <a:ea typeface="Times New Roman"/>
                <a:cs typeface="Times New Roman"/>
                <a:sym typeface="Times New Roman"/>
              </a:rPr>
              <a:t>Literature became an important avenue for Americans to process the trauma of the attacks and understand the new rapidly changing world. Post-9/11 fiction according to DeRosa often grappled with loss and national identity. Authors explored how the attacks affected people and reshaped our culture rather than simply recounting the attacks. Literature also became an important medium to understanding the motivations behind terrorism. The analysis of Don DeLillo’s </a:t>
            </a:r>
            <a:r>
              <a:rPr i="1" lang="en" sz="1200">
                <a:solidFill>
                  <a:schemeClr val="dk1"/>
                </a:solidFill>
                <a:latin typeface="Times New Roman"/>
                <a:ea typeface="Times New Roman"/>
                <a:cs typeface="Times New Roman"/>
                <a:sym typeface="Times New Roman"/>
              </a:rPr>
              <a:t>Falling Man</a:t>
            </a:r>
            <a:r>
              <a:rPr lang="en" sz="1200">
                <a:solidFill>
                  <a:schemeClr val="dk1"/>
                </a:solidFill>
                <a:latin typeface="Times New Roman"/>
                <a:ea typeface="Times New Roman"/>
                <a:cs typeface="Times New Roman"/>
                <a:sym typeface="Times New Roman"/>
              </a:rPr>
              <a:t> and John Updike’s </a:t>
            </a:r>
            <a:r>
              <a:rPr i="1" lang="en" sz="1200">
                <a:solidFill>
                  <a:schemeClr val="dk1"/>
                </a:solidFill>
                <a:latin typeface="Times New Roman"/>
                <a:ea typeface="Times New Roman"/>
                <a:cs typeface="Times New Roman"/>
                <a:sym typeface="Times New Roman"/>
              </a:rPr>
              <a:t>Terrorist</a:t>
            </a:r>
            <a:r>
              <a:rPr lang="en" sz="1200">
                <a:solidFill>
                  <a:schemeClr val="dk1"/>
                </a:solidFill>
                <a:latin typeface="Times New Roman"/>
                <a:ea typeface="Times New Roman"/>
                <a:cs typeface="Times New Roman"/>
                <a:sym typeface="Times New Roman"/>
              </a:rPr>
              <a:t> by Eikonsalo demonstrates how authors attempted to understand motivations behind terrorist violence and explored the psychological and social consequences of terrorism. Readers of these novels were challenged to confront difficult questions about fear, identity, and cultural conflict. Americans were able to reflect on the meaning of 9/11 through literature and preserve the emotional impacts in ways that strict historical accounts could not achieve alone.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dd99bb5a46_0_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dd99bb5a4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200">
                <a:solidFill>
                  <a:schemeClr val="dk1"/>
                </a:solidFill>
                <a:latin typeface="Times New Roman"/>
                <a:ea typeface="Times New Roman"/>
                <a:cs typeface="Times New Roman"/>
                <a:sym typeface="Times New Roman"/>
              </a:rPr>
              <a:t>A significant religious consequence of the 9/11 attacks was the modern debate on the connections to religion and violence. The motivations claimed by the attackers were religious in nature and being Muslim, many Americans associated Islam with terrorism. This persisted despite the condemnation of the attacks by the majority of the global Muslim community. The years following 9/11 the Muslim communities across the United States experienced intensified discrimination, surveillance, and suspicion. This demonstrated how a major historical event can influence the perceptions of an entire religious group in disregard of the facts of that community. As noted by Morgan public discussion often relied on incomplete or inaccurate understanding of Islam. This misinformation largely contributed to stereotypes that linked Islam with violence rather than distinguishing between a peaceful global religious majority and the violent extremist organizations of the minority. Another consequence of the attacks being linked to Islamic extremism is that the violence associated with other religions was viewed differently. The violence associated with Christianity and other religions were minimized or denied, while Islam was portrayed as a religion rooted in violence. This reveals how 9/11 influenced attitudes toward terrorism but also the broader cultural discussions of religion.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c6fa3c898_0_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c6fa3c898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200">
                <a:solidFill>
                  <a:schemeClr val="dk1"/>
                </a:solidFill>
                <a:latin typeface="Times New Roman"/>
                <a:ea typeface="Times New Roman"/>
                <a:cs typeface="Times New Roman"/>
                <a:sym typeface="Times New Roman"/>
              </a:rPr>
              <a:t>Several important philosophical debates were raised in the aftermath of the 9/11 attacks that continue to influence society today. One of those debates is the balance between liberty and security. The United States expanded surveillance programs and enacted new security policies after the attacks that were intended to prevent future acts of terrorism. Proponents of these policies argued that the policies were necessary to protect public safety. Critics questioned if the increased government monitoring threatened individual privacy and civil liberties. How much freedom a society should be willing to sacrifice in exchange for greater security is still being examined by philosophers. The ethics of war and counterterrorism is another area of discussion. The United States response to 9/11 was through military action overseas and the implementation of new detention and interrogation policies. Debates ensued regarding the moral justification of the military action and if the counterterrorism practices violated fundamental human rights. The ethical concerns of torture, indefinite detention, and overall treatment of suspected terrorists become imporant discussisons both within the United States and internationally. Philosophers also sought to understand the motivations behind terrorism without justifying the violence. Rockmore postulated that the true motivations for the attacks have yet to be fully understood. Understanding these motivations that drive terrorism can help societies develop more effective responses and potentially prevent future attacks. Focusing discussions on ideology, perceived injustices, political grievances, and the role that violence plays in achieving goals can potentially mitigate the underlying reasons for attacks. The philosophical challenges to freedom, justice, morality, and security demonstrate that 9/11 was more than just a historical event.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c6fa3c898_0_2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c6fa3c898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The impact 9/11 had on the arts changed over time significantly. The earliest response focused on the shock and destruction caused by the attacks. Artists attempted to capture the emotional impact of witnessing the collapse of the Twin Towers and the sense of uncertainty that followed. Artistic works began to shift away from direct depictions of the attacks as the War on Terror progressed. They began to explore broader themes related to terrorism, conflict and political violence. Some works portrayed terrorists via satire and caricatures to reflect the cultural anxieties regarding terrorism. Jones and Smith noted that as violence against artists portraying Islam and Muslim prophets through these means increased, the responses became increasingly ambiguous. They suggest that artists avoided making clear moral judgments about terrorism and Islam and instead chose to produce works that reflected uncertainty and complexity. This trend was labeled by the authors as the “age of ambiguity,” where artistic expression often mirrored broader social and political uncertainty about the War on Terror. These evolving responses reflected how society’s understanding of the 9/11 attacks changed over two decades. Rather than simply preserving memory, artistic works became a part of the ongoing cultural debate about terrorism, war, and political responsibility.</a:t>
            </a:r>
            <a:endParaRPr sz="1200">
              <a:solidFill>
                <a:schemeClr val="dk1"/>
              </a:solidFill>
              <a:latin typeface="Times New Roman"/>
              <a:ea typeface="Times New Roman"/>
              <a:cs typeface="Times New Roman"/>
              <a:sym typeface="Times New Roman"/>
            </a:endParaRPr>
          </a:p>
          <a:p>
            <a:pPr indent="0" lvl="0" marL="0" rtl="0" algn="l">
              <a:lnSpc>
                <a:spcPct val="150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c6fa3c898_0_7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c6fa3c898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The examination through multiple academic disciplines of the 9/11 attacks demonstrates the significance of the attacks and how it extends beyond just the events of that day. American culture was fundamentally reshaped by the attacks and continues to influence society more than two decades later. From a historical perspective, 9/11 transformed how the United States approached national security, terrorism, surveillance, and military interventions. The policies that were enacted in response to the attack continue to affect governmental authority and public life. The means to help process the grief, trauma, and uncertainty was provided by literature, while allowing for the exploration of questions related to identity and cultural conflict. The emotional impact of the attacks are difficult to capture and preserve with only historical records, novels were able to capture these impacts for future generations. The attacks revealed how a major event can change the perceptions of a religious community. Islam was pushed to the forefront of discussions on religion, extremist fundamentalism, and the relationship religion has with violence. Society was encouraged through philosophy to examine difficult questions concerning liberty, security, ethics of war, and justice. Public policy and discussions continue to be influenced by these debates. Society’s evolving understanding of terrorism and the War on Terror is reflected by the fine arts. The tragedy, uncertainty, and complexity of the attacks and the following years was captured by the artistic responses. When the 9/11 attacks are viewed collectively through these disciplines it is clear that it was not simply a terrorist attack. It was a turning point in American culture that altered how Americans view and think about national security, identity, religion, morality, and memory. Understanding the attacks through the interdisciplinary impacts helps to explain the legacy of 9/11 and how it continues to influence American society today.</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edd4a4b7f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edd4a4b7f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6"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18" name="Google Shape;18;p3"/>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3"/>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
        <p:nvSpPr>
          <p:cNvPr id="20" name="Google Shape;20;p3"/>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3" name="Google Shape;23;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4" name="Google Shape;24;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5" name="Google Shape;25;p4"/>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4"/>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7" name="Google Shape;27;p4"/>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0" name="Google Shape;30;p5"/>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1" name="Google Shape;31;p5"/>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2" name="Google Shape;32;p5"/>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5"/>
          <p:cNvSpPr txBox="1"/>
          <p:nvPr>
            <p:ph idx="1" type="body"/>
          </p:nvPr>
        </p:nvSpPr>
        <p:spPr>
          <a:xfrm>
            <a:off x="2400303" y="1602675"/>
            <a:ext cx="3071400" cy="3002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4" name="Google Shape;34;p5"/>
          <p:cNvSpPr txBox="1"/>
          <p:nvPr>
            <p:ph idx="2" type="body"/>
          </p:nvPr>
        </p:nvSpPr>
        <p:spPr>
          <a:xfrm>
            <a:off x="5650572" y="1602675"/>
            <a:ext cx="3071400" cy="3002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5"/>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 name="Google Shape;38;p6"/>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7"/>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7"/>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3" name="Google Shape;43;p7"/>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4"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6" name="Google Shape;46;p8"/>
          <p:cNvSpPr txBox="1"/>
          <p:nvPr>
            <p:ph type="title"/>
          </p:nvPr>
        </p:nvSpPr>
        <p:spPr>
          <a:xfrm>
            <a:off x="283103" y="712141"/>
            <a:ext cx="6244200" cy="3835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47" name="Google Shape;47;p8"/>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1" name="Google Shape;51;p9"/>
          <p:cNvSpPr txBox="1"/>
          <p:nvPr>
            <p:ph type="title"/>
          </p:nvPr>
        </p:nvSpPr>
        <p:spPr>
          <a:xfrm>
            <a:off x="265500" y="1397350"/>
            <a:ext cx="4045200" cy="1318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1"/>
              </a:buClr>
              <a:buSzPts val="3600"/>
              <a:buNone/>
              <a:defRPr sz="3600">
                <a:solidFill>
                  <a:schemeClr val="dk1"/>
                </a:solidFill>
              </a:defRPr>
            </a:lvl1pPr>
            <a:lvl2pPr lvl="1" algn="ctr">
              <a:spcBef>
                <a:spcPts val="0"/>
              </a:spcBef>
              <a:spcAft>
                <a:spcPts val="0"/>
              </a:spcAft>
              <a:buClr>
                <a:schemeClr val="dk1"/>
              </a:buClr>
              <a:buSzPts val="3600"/>
              <a:buNone/>
              <a:defRPr sz="3600">
                <a:solidFill>
                  <a:schemeClr val="dk1"/>
                </a:solidFill>
              </a:defRPr>
            </a:lvl2pPr>
            <a:lvl3pPr lvl="2" algn="ctr">
              <a:spcBef>
                <a:spcPts val="0"/>
              </a:spcBef>
              <a:spcAft>
                <a:spcPts val="0"/>
              </a:spcAft>
              <a:buClr>
                <a:schemeClr val="dk1"/>
              </a:buClr>
              <a:buSzPts val="3600"/>
              <a:buNone/>
              <a:defRPr sz="3600">
                <a:solidFill>
                  <a:schemeClr val="dk1"/>
                </a:solidFill>
              </a:defRPr>
            </a:lvl3pPr>
            <a:lvl4pPr lvl="3" algn="ctr">
              <a:spcBef>
                <a:spcPts val="0"/>
              </a:spcBef>
              <a:spcAft>
                <a:spcPts val="0"/>
              </a:spcAft>
              <a:buClr>
                <a:schemeClr val="dk1"/>
              </a:buClr>
              <a:buSzPts val="3600"/>
              <a:buNone/>
              <a:defRPr sz="3600">
                <a:solidFill>
                  <a:schemeClr val="dk1"/>
                </a:solidFill>
              </a:defRPr>
            </a:lvl4pPr>
            <a:lvl5pPr lvl="4" algn="ctr">
              <a:spcBef>
                <a:spcPts val="0"/>
              </a:spcBef>
              <a:spcAft>
                <a:spcPts val="0"/>
              </a:spcAft>
              <a:buClr>
                <a:schemeClr val="dk1"/>
              </a:buClr>
              <a:buSzPts val="3600"/>
              <a:buNone/>
              <a:defRPr sz="3600">
                <a:solidFill>
                  <a:schemeClr val="dk1"/>
                </a:solidFill>
              </a:defRPr>
            </a:lvl5pPr>
            <a:lvl6pPr lvl="5" algn="ctr">
              <a:spcBef>
                <a:spcPts val="0"/>
              </a:spcBef>
              <a:spcAft>
                <a:spcPts val="0"/>
              </a:spcAft>
              <a:buClr>
                <a:schemeClr val="dk1"/>
              </a:buClr>
              <a:buSzPts val="3600"/>
              <a:buNone/>
              <a:defRPr sz="3600">
                <a:solidFill>
                  <a:schemeClr val="dk1"/>
                </a:solidFill>
              </a:defRPr>
            </a:lvl6pPr>
            <a:lvl7pPr lvl="6" algn="ctr">
              <a:spcBef>
                <a:spcPts val="0"/>
              </a:spcBef>
              <a:spcAft>
                <a:spcPts val="0"/>
              </a:spcAft>
              <a:buClr>
                <a:schemeClr val="dk1"/>
              </a:buClr>
              <a:buSzPts val="3600"/>
              <a:buNone/>
              <a:defRPr sz="3600">
                <a:solidFill>
                  <a:schemeClr val="dk1"/>
                </a:solidFill>
              </a:defRPr>
            </a:lvl7pPr>
            <a:lvl8pPr lvl="7" algn="ctr">
              <a:spcBef>
                <a:spcPts val="0"/>
              </a:spcBef>
              <a:spcAft>
                <a:spcPts val="0"/>
              </a:spcAft>
              <a:buClr>
                <a:schemeClr val="dk1"/>
              </a:buClr>
              <a:buSzPts val="3600"/>
              <a:buNone/>
              <a:defRPr sz="3600">
                <a:solidFill>
                  <a:schemeClr val="dk1"/>
                </a:solidFill>
              </a:defRPr>
            </a:lvl8pPr>
            <a:lvl9pPr lvl="8" algn="ctr">
              <a:spcBef>
                <a:spcPts val="0"/>
              </a:spcBef>
              <a:spcAft>
                <a:spcPts val="0"/>
              </a:spcAft>
              <a:buClr>
                <a:schemeClr val="dk1"/>
              </a:buClr>
              <a:buSzPts val="3600"/>
              <a:buNone/>
              <a:defRPr sz="3600">
                <a:solidFill>
                  <a:schemeClr val="dk1"/>
                </a:solidFill>
              </a:defRPr>
            </a:lvl9pPr>
          </a:lstStyle>
          <a:p/>
        </p:txBody>
      </p:sp>
      <p:sp>
        <p:nvSpPr>
          <p:cNvPr id="52" name="Google Shape;52;p9"/>
          <p:cNvSpPr txBox="1"/>
          <p:nvPr>
            <p:ph idx="1" type="subTitle"/>
          </p:nvPr>
        </p:nvSpPr>
        <p:spPr>
          <a:xfrm>
            <a:off x="265500" y="273537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7" name="Google Shape;57;p1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8" name="Google Shape;58;p10"/>
          <p:cNvSpPr txBox="1"/>
          <p:nvPr>
            <p:ph idx="1" type="body"/>
          </p:nvPr>
        </p:nvSpPr>
        <p:spPr>
          <a:xfrm>
            <a:off x="328017" y="4226025"/>
            <a:ext cx="8388600" cy="3936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62" name="Google Shape;62;p1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3" name="Google Shape;63;p11"/>
          <p:cNvSpPr txBox="1"/>
          <p:nvPr>
            <p:ph hasCustomPrompt="1" type="title"/>
          </p:nvPr>
        </p:nvSpPr>
        <p:spPr>
          <a:xfrm>
            <a:off x="853950" y="1304850"/>
            <a:ext cx="7436100" cy="1538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p:nvPr>
            <p:ph idx="1" type="body"/>
          </p:nvPr>
        </p:nvSpPr>
        <p:spPr>
          <a:xfrm>
            <a:off x="853950" y="2919450"/>
            <a:ext cx="74361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5" name="Google Shape;65;p11"/>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600"/>
              </a:spcBef>
              <a:spcAft>
                <a:spcPts val="160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hyperlink" Target="https://journals.lib.unb.ca/index.php/JCS/article/view/10539/13299" TargetMode="External"/><Relationship Id="rId4" Type="http://schemas.openxmlformats.org/officeDocument/2006/relationships/hyperlink" Target="https://journals.lib.unb.ca/index.php/JCS/article/view/10539/13299" TargetMode="External"/><Relationship Id="rId9" Type="http://schemas.openxmlformats.org/officeDocument/2006/relationships/hyperlink" Target="https://doi.org/10.1080/1057610X.2021.1943813" TargetMode="External"/><Relationship Id="rId5" Type="http://schemas.openxmlformats.org/officeDocument/2006/relationships/hyperlink" Target="https://dx.doi.org/10.1353/mfs.2011.0063" TargetMode="External"/><Relationship Id="rId6" Type="http://schemas.openxmlformats.org/officeDocument/2006/relationships/hyperlink" Target="https://doi.org/10.31178/UBR.15.1.2" TargetMode="External"/><Relationship Id="rId7" Type="http://schemas.openxmlformats.org/officeDocument/2006/relationships/hyperlink" Target="https://doi.org/10.31178/UBR.15.1.2" TargetMode="External"/><Relationship Id="rId8" Type="http://schemas.openxmlformats.org/officeDocument/2006/relationships/hyperlink" Target="https://doi.org/10.1080/1057610X.2021.1943813"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3"/>
          <p:cNvSpPr txBox="1"/>
          <p:nvPr>
            <p:ph type="ctrTitle"/>
          </p:nvPr>
        </p:nvSpPr>
        <p:spPr>
          <a:xfrm>
            <a:off x="2371725" y="630225"/>
            <a:ext cx="6331500" cy="292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9/11 Terror Attack and I</a:t>
            </a:r>
            <a:r>
              <a:rPr lang="en" sz="3500"/>
              <a:t>ts</a:t>
            </a:r>
            <a:r>
              <a:rPr lang="en" sz="3500"/>
              <a:t> Impacts on the Disciplinary Perspectives of History, Literature, Religion, Philosophy, Arts</a:t>
            </a:r>
            <a:endParaRPr sz="3500"/>
          </a:p>
        </p:txBody>
      </p:sp>
      <p:sp>
        <p:nvSpPr>
          <p:cNvPr id="73" name="Google Shape;73;p13"/>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Greg Stevenson</a:t>
            </a:r>
            <a:r>
              <a:rPr lang="en"/>
              <a:t> • 06.17.2026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4"/>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p>
            <a:pPr indent="-323850" lvl="0" marL="457200" rtl="0" algn="l">
              <a:lnSpc>
                <a:spcPct val="100000"/>
              </a:lnSpc>
              <a:spcBef>
                <a:spcPts val="0"/>
              </a:spcBef>
              <a:spcAft>
                <a:spcPts val="0"/>
              </a:spcAft>
              <a:buSzPts val="1500"/>
              <a:buChar char="●"/>
            </a:pPr>
            <a:r>
              <a:rPr b="1" lang="en"/>
              <a:t>National </a:t>
            </a:r>
            <a:r>
              <a:rPr b="1" lang="en"/>
              <a:t>Security</a:t>
            </a:r>
            <a:r>
              <a:rPr b="1" lang="en"/>
              <a:t> </a:t>
            </a:r>
            <a:r>
              <a:rPr b="1" lang="en"/>
              <a:t>became</a:t>
            </a:r>
            <a:r>
              <a:rPr b="1" lang="en"/>
              <a:t> central political theme </a:t>
            </a:r>
            <a:endParaRPr b="1"/>
          </a:p>
          <a:p>
            <a:pPr indent="-317500" lvl="1" marL="914400" rtl="0" algn="l">
              <a:lnSpc>
                <a:spcPct val="100000"/>
              </a:lnSpc>
              <a:spcBef>
                <a:spcPts val="0"/>
              </a:spcBef>
              <a:spcAft>
                <a:spcPts val="0"/>
              </a:spcAft>
              <a:buSzPts val="1400"/>
              <a:buChar char="○"/>
            </a:pPr>
            <a:r>
              <a:rPr b="1" lang="en"/>
              <a:t>Creation of Department of Homeland </a:t>
            </a:r>
            <a:r>
              <a:rPr b="1" lang="en"/>
              <a:t>Security (DHS)</a:t>
            </a:r>
            <a:endParaRPr b="1"/>
          </a:p>
          <a:p>
            <a:pPr indent="-317500" lvl="1" marL="914400" rtl="0" algn="l">
              <a:lnSpc>
                <a:spcPct val="100000"/>
              </a:lnSpc>
              <a:spcBef>
                <a:spcPts val="0"/>
              </a:spcBef>
              <a:spcAft>
                <a:spcPts val="0"/>
              </a:spcAft>
              <a:buSzPts val="1400"/>
              <a:buChar char="○"/>
            </a:pPr>
            <a:r>
              <a:rPr b="1" lang="en"/>
              <a:t> Creation of Transport </a:t>
            </a:r>
            <a:r>
              <a:rPr b="1" lang="en"/>
              <a:t>Security</a:t>
            </a:r>
            <a:r>
              <a:rPr b="1" lang="en"/>
              <a:t> </a:t>
            </a:r>
            <a:r>
              <a:rPr b="1" lang="en"/>
              <a:t>Administration (TSA)</a:t>
            </a:r>
            <a:endParaRPr b="1"/>
          </a:p>
          <a:p>
            <a:pPr indent="-342900" lvl="0" marL="457200" rtl="0" algn="l">
              <a:lnSpc>
                <a:spcPct val="100000"/>
              </a:lnSpc>
              <a:spcBef>
                <a:spcPts val="0"/>
              </a:spcBef>
              <a:spcAft>
                <a:spcPts val="0"/>
              </a:spcAft>
              <a:buSzPts val="1800"/>
              <a:buChar char="●"/>
            </a:pPr>
            <a:r>
              <a:rPr b="1" lang="en"/>
              <a:t>Fear and Patriotism in media </a:t>
            </a:r>
            <a:endParaRPr b="1"/>
          </a:p>
          <a:p>
            <a:pPr indent="-317500" lvl="1" marL="914400" rtl="0" algn="l">
              <a:lnSpc>
                <a:spcPct val="100000"/>
              </a:lnSpc>
              <a:spcBef>
                <a:spcPts val="0"/>
              </a:spcBef>
              <a:spcAft>
                <a:spcPts val="0"/>
              </a:spcAft>
              <a:buSzPts val="1400"/>
              <a:buChar char="○"/>
            </a:pPr>
            <a:r>
              <a:rPr b="1" lang="en"/>
              <a:t>News coverage people flying flags</a:t>
            </a:r>
            <a:endParaRPr b="1"/>
          </a:p>
          <a:p>
            <a:pPr indent="-317500" lvl="1" marL="914400" rtl="0" algn="l">
              <a:lnSpc>
                <a:spcPct val="100000"/>
              </a:lnSpc>
              <a:spcBef>
                <a:spcPts val="0"/>
              </a:spcBef>
              <a:spcAft>
                <a:spcPts val="0"/>
              </a:spcAft>
              <a:buSzPts val="1400"/>
              <a:buChar char="○"/>
            </a:pPr>
            <a:r>
              <a:rPr b="1" lang="en"/>
              <a:t>“USA!” chant at ground zero</a:t>
            </a:r>
            <a:endParaRPr b="1"/>
          </a:p>
        </p:txBody>
      </p:sp>
      <p:sp>
        <p:nvSpPr>
          <p:cNvPr id="79" name="Google Shape;79;p14"/>
          <p:cNvSpPr txBox="1"/>
          <p:nvPr>
            <p:ph type="title"/>
          </p:nvPr>
        </p:nvSpPr>
        <p:spPr>
          <a:xfrm>
            <a:off x="265500" y="1912650"/>
            <a:ext cx="4045200" cy="1521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9/11 </a:t>
            </a:r>
            <a:r>
              <a:rPr lang="en"/>
              <a:t>Cultural</a:t>
            </a:r>
            <a:r>
              <a:rPr lang="en"/>
              <a:t> Turning Point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txBox="1"/>
          <p:nvPr>
            <p:ph type="title"/>
          </p:nvPr>
        </p:nvSpPr>
        <p:spPr>
          <a:xfrm>
            <a:off x="1435096" y="423550"/>
            <a:ext cx="6321600" cy="63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History</a:t>
            </a:r>
            <a:endParaRPr/>
          </a:p>
        </p:txBody>
      </p:sp>
      <p:sp>
        <p:nvSpPr>
          <p:cNvPr id="85" name="Google Shape;85;p15"/>
          <p:cNvSpPr txBox="1"/>
          <p:nvPr>
            <p:ph idx="1" type="body"/>
          </p:nvPr>
        </p:nvSpPr>
        <p:spPr>
          <a:xfrm>
            <a:off x="220970" y="1109761"/>
            <a:ext cx="3071400" cy="300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100">
                <a:solidFill>
                  <a:schemeClr val="dk1"/>
                </a:solidFill>
              </a:rPr>
              <a:t>War on Terror</a:t>
            </a:r>
            <a:endParaRPr b="1" sz="2100">
              <a:solidFill>
                <a:schemeClr val="dk1"/>
              </a:solidFill>
            </a:endParaRPr>
          </a:p>
          <a:p>
            <a:pPr indent="-330200" lvl="0" marL="457200" rtl="0" algn="l">
              <a:spcBef>
                <a:spcPts val="1600"/>
              </a:spcBef>
              <a:spcAft>
                <a:spcPts val="0"/>
              </a:spcAft>
              <a:buSzPts val="1600"/>
              <a:buChar char="●"/>
            </a:pPr>
            <a:r>
              <a:rPr lang="en" sz="1600"/>
              <a:t>Alien concept as prior terrorist where criminals </a:t>
            </a:r>
            <a:r>
              <a:rPr lang="en" sz="1600"/>
              <a:t>incapable</a:t>
            </a:r>
            <a:r>
              <a:rPr lang="en" sz="1600"/>
              <a:t> of waging war </a:t>
            </a:r>
            <a:r>
              <a:rPr lang="en" sz="1600"/>
              <a:t>against</a:t>
            </a:r>
            <a:r>
              <a:rPr lang="en" sz="1600"/>
              <a:t> a nation</a:t>
            </a:r>
            <a:endParaRPr sz="1600"/>
          </a:p>
          <a:p>
            <a:pPr indent="-330200" lvl="0" marL="457200" rtl="0" algn="l">
              <a:spcBef>
                <a:spcPts val="1200"/>
              </a:spcBef>
              <a:spcAft>
                <a:spcPts val="1200"/>
              </a:spcAft>
              <a:buSzPts val="1600"/>
              <a:buChar char="●"/>
            </a:pPr>
            <a:r>
              <a:rPr lang="en" sz="1600"/>
              <a:t>Framed as </a:t>
            </a:r>
            <a:r>
              <a:rPr lang="en" sz="1600"/>
              <a:t>pseudo</a:t>
            </a:r>
            <a:r>
              <a:rPr lang="en" sz="1600"/>
              <a:t>-</a:t>
            </a:r>
            <a:r>
              <a:rPr lang="en" sz="1600"/>
              <a:t>holy war by US President Bush by claiming </a:t>
            </a:r>
            <a:r>
              <a:rPr i="1" lang="en" sz="1600"/>
              <a:t>Al Qaeda</a:t>
            </a:r>
            <a:r>
              <a:rPr lang="en" sz="1600"/>
              <a:t> wanted to expel Jews and Christians </a:t>
            </a:r>
            <a:r>
              <a:rPr lang="en" sz="1600"/>
              <a:t> via </a:t>
            </a:r>
            <a:r>
              <a:rPr i="1" lang="en" sz="1600"/>
              <a:t>Jihad</a:t>
            </a:r>
            <a:endParaRPr i="1" sz="1600"/>
          </a:p>
        </p:txBody>
      </p:sp>
      <p:sp>
        <p:nvSpPr>
          <p:cNvPr id="86" name="Google Shape;86;p15"/>
          <p:cNvSpPr txBox="1"/>
          <p:nvPr>
            <p:ph idx="2" type="body"/>
          </p:nvPr>
        </p:nvSpPr>
        <p:spPr>
          <a:xfrm>
            <a:off x="5983012" y="1110886"/>
            <a:ext cx="3071400" cy="300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2"/>
              </a:buClr>
              <a:buSzPts val="1100"/>
              <a:buNone/>
            </a:pPr>
            <a:r>
              <a:rPr b="1" lang="en" sz="2100">
                <a:solidFill>
                  <a:schemeClr val="dk1"/>
                </a:solidFill>
              </a:rPr>
              <a:t>Torture Endorsement </a:t>
            </a:r>
            <a:r>
              <a:rPr b="1" lang="en" sz="2100">
                <a:solidFill>
                  <a:schemeClr val="dk1"/>
                </a:solidFill>
              </a:rPr>
              <a:t> </a:t>
            </a:r>
            <a:endParaRPr b="1" sz="2100">
              <a:solidFill>
                <a:schemeClr val="dk1"/>
              </a:solidFill>
            </a:endParaRPr>
          </a:p>
          <a:p>
            <a:pPr indent="-330200" lvl="0" marL="457200" rtl="0" algn="l">
              <a:spcBef>
                <a:spcPts val="1600"/>
              </a:spcBef>
              <a:spcAft>
                <a:spcPts val="0"/>
              </a:spcAft>
              <a:buSzPts val="1600"/>
              <a:buChar char="●"/>
            </a:pPr>
            <a:r>
              <a:rPr lang="en" sz="1600"/>
              <a:t>US </a:t>
            </a:r>
            <a:r>
              <a:rPr lang="en" sz="1600"/>
              <a:t>established</a:t>
            </a:r>
            <a:r>
              <a:rPr lang="en" sz="1600"/>
              <a:t> </a:t>
            </a:r>
            <a:r>
              <a:rPr lang="en" sz="1600"/>
              <a:t>facilities</a:t>
            </a:r>
            <a:r>
              <a:rPr lang="en" sz="1600"/>
              <a:t> across the </a:t>
            </a:r>
            <a:r>
              <a:rPr lang="en" sz="1600"/>
              <a:t>globe used for interrogation and torture, most notably the facility at Guantanamo Bay </a:t>
            </a:r>
            <a:endParaRPr sz="1600"/>
          </a:p>
          <a:p>
            <a:pPr indent="0" lvl="0" marL="457200" rtl="0" algn="l">
              <a:spcBef>
                <a:spcPts val="1200"/>
              </a:spcBef>
              <a:spcAft>
                <a:spcPts val="1200"/>
              </a:spcAft>
              <a:buNone/>
            </a:pPr>
            <a:r>
              <a:t/>
            </a:r>
            <a:endParaRPr sz="1600"/>
          </a:p>
        </p:txBody>
      </p:sp>
      <p:sp>
        <p:nvSpPr>
          <p:cNvPr id="87" name="Google Shape;87;p15"/>
          <p:cNvSpPr txBox="1"/>
          <p:nvPr/>
        </p:nvSpPr>
        <p:spPr>
          <a:xfrm>
            <a:off x="6639450" y="4691025"/>
            <a:ext cx="2082600" cy="2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latin typeface="Lato"/>
                <a:ea typeface="Lato"/>
                <a:cs typeface="Lato"/>
                <a:sym typeface="Lato"/>
              </a:rPr>
              <a:t>S</a:t>
            </a:r>
            <a:r>
              <a:rPr lang="en" sz="800">
                <a:solidFill>
                  <a:schemeClr val="dk2"/>
                </a:solidFill>
                <a:latin typeface="Lato"/>
                <a:ea typeface="Lato"/>
                <a:cs typeface="Lato"/>
                <a:sym typeface="Lato"/>
              </a:rPr>
              <a:t>ources:Charters (2008),</a:t>
            </a:r>
            <a:r>
              <a:rPr lang="en" sz="800">
                <a:solidFill>
                  <a:schemeClr val="dk2"/>
                </a:solidFill>
                <a:latin typeface="Lato"/>
                <a:ea typeface="Lato"/>
                <a:cs typeface="Lato"/>
                <a:sym typeface="Lato"/>
              </a:rPr>
              <a:t>Dudziak ( 2012)</a:t>
            </a:r>
            <a:endParaRPr sz="800">
              <a:solidFill>
                <a:schemeClr val="dk2"/>
              </a:solidFill>
              <a:latin typeface="Lato"/>
              <a:ea typeface="Lato"/>
              <a:cs typeface="Lato"/>
              <a:sym typeface="Lato"/>
            </a:endParaRPr>
          </a:p>
        </p:txBody>
      </p:sp>
      <p:sp>
        <p:nvSpPr>
          <p:cNvPr id="88" name="Google Shape;88;p15"/>
          <p:cNvSpPr txBox="1"/>
          <p:nvPr>
            <p:ph idx="2" type="body"/>
          </p:nvPr>
        </p:nvSpPr>
        <p:spPr>
          <a:xfrm>
            <a:off x="3045960" y="1050897"/>
            <a:ext cx="3071400" cy="300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2"/>
              </a:buClr>
              <a:buSzPts val="1100"/>
              <a:buNone/>
            </a:pPr>
            <a:r>
              <a:rPr b="1" lang="en" sz="2100">
                <a:solidFill>
                  <a:schemeClr val="dk1"/>
                </a:solidFill>
              </a:rPr>
              <a:t>US Surveillance State  </a:t>
            </a:r>
            <a:endParaRPr b="1" sz="2100">
              <a:solidFill>
                <a:schemeClr val="dk1"/>
              </a:solidFill>
            </a:endParaRPr>
          </a:p>
          <a:p>
            <a:pPr indent="-330200" lvl="0" marL="457200" rtl="0" algn="l">
              <a:spcBef>
                <a:spcPts val="1600"/>
              </a:spcBef>
              <a:spcAft>
                <a:spcPts val="0"/>
              </a:spcAft>
              <a:buSzPts val="1600"/>
              <a:buChar char="●"/>
            </a:pPr>
            <a:r>
              <a:rPr lang="en" sz="1600"/>
              <a:t>Anti-terrorism policies, such as the PATRIOT Act, enacted that increase the surveillance powers of police and government entities</a:t>
            </a:r>
            <a:endParaRPr sz="1600"/>
          </a:p>
          <a:p>
            <a:pPr indent="-330200" lvl="0" marL="457200" rtl="0" algn="l">
              <a:spcBef>
                <a:spcPts val="1200"/>
              </a:spcBef>
              <a:spcAft>
                <a:spcPts val="1200"/>
              </a:spcAft>
              <a:buSzPts val="1600"/>
              <a:buChar char="●"/>
            </a:pPr>
            <a:r>
              <a:rPr lang="en" sz="1600"/>
              <a:t>Communications</a:t>
            </a:r>
            <a:r>
              <a:rPr lang="en" sz="1600"/>
              <a:t> and financial activity </a:t>
            </a:r>
            <a:r>
              <a:rPr lang="en" sz="1600"/>
              <a:t>monitoring</a:t>
            </a:r>
            <a:r>
              <a:rPr lang="en" sz="1600"/>
              <a:t> increased</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6"/>
          <p:cNvSpPr txBox="1"/>
          <p:nvPr>
            <p:ph type="title"/>
          </p:nvPr>
        </p:nvSpPr>
        <p:spPr>
          <a:xfrm>
            <a:off x="1447750" y="575950"/>
            <a:ext cx="6321600" cy="63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Literature</a:t>
            </a:r>
            <a:endParaRPr/>
          </a:p>
        </p:txBody>
      </p:sp>
      <p:sp>
        <p:nvSpPr>
          <p:cNvPr id="94" name="Google Shape;94;p16"/>
          <p:cNvSpPr txBox="1"/>
          <p:nvPr>
            <p:ph idx="1" type="body"/>
          </p:nvPr>
        </p:nvSpPr>
        <p:spPr>
          <a:xfrm>
            <a:off x="3149218" y="1514850"/>
            <a:ext cx="3071400" cy="300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100">
                <a:solidFill>
                  <a:schemeClr val="dk1"/>
                </a:solidFill>
              </a:rPr>
              <a:t>Examining Terrorism &amp; </a:t>
            </a:r>
            <a:r>
              <a:rPr b="1" lang="en" sz="2100">
                <a:solidFill>
                  <a:schemeClr val="dk1"/>
                </a:solidFill>
              </a:rPr>
              <a:t>Cultural</a:t>
            </a:r>
            <a:r>
              <a:rPr b="1" lang="en" sz="2100">
                <a:solidFill>
                  <a:schemeClr val="dk1"/>
                </a:solidFill>
              </a:rPr>
              <a:t> Conflict</a:t>
            </a:r>
            <a:endParaRPr b="1" sz="2100">
              <a:solidFill>
                <a:schemeClr val="dk1"/>
              </a:solidFill>
            </a:endParaRPr>
          </a:p>
          <a:p>
            <a:pPr indent="-330200" lvl="0" marL="457200" rtl="0" algn="l">
              <a:spcBef>
                <a:spcPts val="1600"/>
              </a:spcBef>
              <a:spcAft>
                <a:spcPts val="0"/>
              </a:spcAft>
              <a:buSzPts val="1600"/>
              <a:buChar char="●"/>
            </a:pPr>
            <a:r>
              <a:rPr lang="en" sz="1600"/>
              <a:t>Authors sought understandings to the </a:t>
            </a:r>
            <a:r>
              <a:rPr lang="en" sz="1600"/>
              <a:t>motivations</a:t>
            </a:r>
            <a:r>
              <a:rPr lang="en" sz="1600"/>
              <a:t> of terrorism</a:t>
            </a:r>
            <a:endParaRPr sz="1600"/>
          </a:p>
          <a:p>
            <a:pPr indent="-330200" lvl="0" marL="457200" rtl="0" algn="l">
              <a:spcBef>
                <a:spcPts val="1200"/>
              </a:spcBef>
              <a:spcAft>
                <a:spcPts val="1200"/>
              </a:spcAft>
              <a:buSzPts val="1600"/>
              <a:buChar char="●"/>
            </a:pPr>
            <a:r>
              <a:rPr lang="en" sz="1600"/>
              <a:t>Complex perspectives of </a:t>
            </a:r>
            <a:r>
              <a:rPr lang="en" sz="1600"/>
              <a:t>identity, ideology and violence explored in novels</a:t>
            </a:r>
            <a:endParaRPr sz="1600"/>
          </a:p>
        </p:txBody>
      </p:sp>
      <p:sp>
        <p:nvSpPr>
          <p:cNvPr id="95" name="Google Shape;95;p16"/>
          <p:cNvSpPr txBox="1"/>
          <p:nvPr>
            <p:ph idx="2" type="body"/>
          </p:nvPr>
        </p:nvSpPr>
        <p:spPr>
          <a:xfrm>
            <a:off x="6074505" y="1514850"/>
            <a:ext cx="3071400" cy="300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2"/>
              </a:buClr>
              <a:buSzPts val="1100"/>
              <a:buNone/>
            </a:pPr>
            <a:r>
              <a:rPr b="1" lang="en" sz="2100">
                <a:solidFill>
                  <a:schemeClr val="dk1"/>
                </a:solidFill>
              </a:rPr>
              <a:t>The </a:t>
            </a:r>
            <a:r>
              <a:rPr b="1" lang="en" sz="2100">
                <a:solidFill>
                  <a:schemeClr val="dk1"/>
                </a:solidFill>
              </a:rPr>
              <a:t>American</a:t>
            </a:r>
            <a:r>
              <a:rPr b="1" lang="en" sz="2100">
                <a:solidFill>
                  <a:schemeClr val="dk1"/>
                </a:solidFill>
              </a:rPr>
              <a:t> Identity</a:t>
            </a:r>
            <a:endParaRPr b="1" sz="2100">
              <a:solidFill>
                <a:schemeClr val="dk1"/>
              </a:solidFill>
            </a:endParaRPr>
          </a:p>
          <a:p>
            <a:pPr indent="-330200" lvl="0" marL="457200" rtl="0" algn="l">
              <a:spcBef>
                <a:spcPts val="1600"/>
              </a:spcBef>
              <a:spcAft>
                <a:spcPts val="0"/>
              </a:spcAft>
              <a:buSzPts val="1600"/>
              <a:buChar char="●"/>
            </a:pPr>
            <a:r>
              <a:rPr lang="en" sz="1600"/>
              <a:t>Literature questioned America’s role in </a:t>
            </a:r>
            <a:r>
              <a:rPr lang="en" sz="1600"/>
              <a:t>globalization, security and national identity</a:t>
            </a:r>
            <a:endParaRPr sz="1600"/>
          </a:p>
          <a:p>
            <a:pPr indent="-330200" lvl="0" marL="457200" rtl="0" algn="l">
              <a:spcBef>
                <a:spcPts val="1200"/>
              </a:spcBef>
              <a:spcAft>
                <a:spcPts val="1200"/>
              </a:spcAft>
              <a:buSzPts val="1600"/>
              <a:buChar char="●"/>
            </a:pPr>
            <a:r>
              <a:rPr lang="en" sz="1600"/>
              <a:t>Reflection on the changed world conducted through fiction</a:t>
            </a:r>
            <a:endParaRPr sz="1600"/>
          </a:p>
        </p:txBody>
      </p:sp>
      <p:sp>
        <p:nvSpPr>
          <p:cNvPr id="96" name="Google Shape;96;p16"/>
          <p:cNvSpPr txBox="1"/>
          <p:nvPr>
            <p:ph idx="2" type="body"/>
          </p:nvPr>
        </p:nvSpPr>
        <p:spPr>
          <a:xfrm>
            <a:off x="169563" y="1528980"/>
            <a:ext cx="3071400" cy="300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2"/>
              </a:buClr>
              <a:buSzPts val="1100"/>
              <a:buNone/>
            </a:pPr>
            <a:r>
              <a:rPr b="1" lang="en" sz="2100">
                <a:solidFill>
                  <a:schemeClr val="dk1"/>
                </a:solidFill>
              </a:rPr>
              <a:t>Trauma</a:t>
            </a:r>
            <a:r>
              <a:rPr b="1" lang="en" sz="2100">
                <a:solidFill>
                  <a:schemeClr val="dk1"/>
                </a:solidFill>
              </a:rPr>
              <a:t> Response</a:t>
            </a:r>
            <a:endParaRPr b="1" sz="2100">
              <a:solidFill>
                <a:schemeClr val="dk1"/>
              </a:solidFill>
            </a:endParaRPr>
          </a:p>
          <a:p>
            <a:pPr indent="-330200" lvl="0" marL="457200" rtl="0" algn="l">
              <a:spcBef>
                <a:spcPts val="1600"/>
              </a:spcBef>
              <a:spcAft>
                <a:spcPts val="1200"/>
              </a:spcAft>
              <a:buSzPts val="1600"/>
              <a:buChar char="●"/>
            </a:pPr>
            <a:r>
              <a:rPr lang="en" sz="1600"/>
              <a:t>Fiction used by </a:t>
            </a:r>
            <a:r>
              <a:rPr lang="en" sz="1600"/>
              <a:t>authors</a:t>
            </a:r>
            <a:r>
              <a:rPr lang="en" sz="1600"/>
              <a:t> to process the </a:t>
            </a:r>
            <a:r>
              <a:rPr lang="en" sz="1600"/>
              <a:t>collective</a:t>
            </a:r>
            <a:r>
              <a:rPr lang="en" sz="1600"/>
              <a:t> </a:t>
            </a:r>
            <a:r>
              <a:rPr lang="en" sz="1600"/>
              <a:t>grief</a:t>
            </a:r>
            <a:r>
              <a:rPr lang="en" sz="1600"/>
              <a:t>, fear and </a:t>
            </a:r>
            <a:r>
              <a:rPr lang="en" sz="1600"/>
              <a:t>uncertainty</a:t>
            </a:r>
            <a:r>
              <a:rPr lang="en" sz="1600"/>
              <a:t> </a:t>
            </a:r>
            <a:endParaRPr sz="1800"/>
          </a:p>
        </p:txBody>
      </p:sp>
      <p:sp>
        <p:nvSpPr>
          <p:cNvPr id="97" name="Google Shape;97;p16"/>
          <p:cNvSpPr txBox="1"/>
          <p:nvPr/>
        </p:nvSpPr>
        <p:spPr>
          <a:xfrm>
            <a:off x="6639450" y="4691025"/>
            <a:ext cx="2082600" cy="2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latin typeface="Lato"/>
                <a:ea typeface="Lato"/>
                <a:cs typeface="Lato"/>
                <a:sym typeface="Lato"/>
              </a:rPr>
              <a:t>Sources:DeRosa (2011), Eikonsalo (2025)</a:t>
            </a:r>
            <a:endParaRPr sz="800">
              <a:solidFill>
                <a:schemeClr val="dk2"/>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7"/>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Religion</a:t>
            </a:r>
            <a:endParaRPr/>
          </a:p>
        </p:txBody>
      </p:sp>
      <p:sp>
        <p:nvSpPr>
          <p:cNvPr id="103" name="Google Shape;103;p17"/>
          <p:cNvSpPr txBox="1"/>
          <p:nvPr>
            <p:ph idx="1" type="body"/>
          </p:nvPr>
        </p:nvSpPr>
        <p:spPr>
          <a:xfrm>
            <a:off x="2400303" y="1602675"/>
            <a:ext cx="3071400" cy="3002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Discussions</a:t>
            </a:r>
            <a:r>
              <a:rPr lang="en" sz="1600"/>
              <a:t> on  the </a:t>
            </a:r>
            <a:r>
              <a:rPr lang="en" sz="1600"/>
              <a:t>connection</a:t>
            </a:r>
            <a:r>
              <a:rPr lang="en" sz="1600"/>
              <a:t> between religion on violence</a:t>
            </a:r>
            <a:endParaRPr sz="1600"/>
          </a:p>
          <a:p>
            <a:pPr indent="-330200" lvl="0" marL="457200" rtl="0" algn="l">
              <a:spcBef>
                <a:spcPts val="1200"/>
              </a:spcBef>
              <a:spcAft>
                <a:spcPts val="1200"/>
              </a:spcAft>
              <a:buSzPts val="1600"/>
              <a:buChar char="●"/>
            </a:pPr>
            <a:r>
              <a:rPr lang="en" sz="1600"/>
              <a:t>Muslim </a:t>
            </a:r>
            <a:r>
              <a:rPr lang="en" sz="1600"/>
              <a:t>communities</a:t>
            </a:r>
            <a:r>
              <a:rPr lang="en" sz="1600"/>
              <a:t> faced discrimination and </a:t>
            </a:r>
            <a:r>
              <a:rPr lang="en" sz="1600"/>
              <a:t>persecution</a:t>
            </a:r>
            <a:r>
              <a:rPr lang="en" sz="1600"/>
              <a:t> for their faith</a:t>
            </a:r>
            <a:endParaRPr sz="1600"/>
          </a:p>
        </p:txBody>
      </p:sp>
      <p:sp>
        <p:nvSpPr>
          <p:cNvPr id="104" name="Google Shape;104;p17"/>
          <p:cNvSpPr txBox="1"/>
          <p:nvPr>
            <p:ph idx="2" type="body"/>
          </p:nvPr>
        </p:nvSpPr>
        <p:spPr>
          <a:xfrm>
            <a:off x="4143891" y="1069575"/>
            <a:ext cx="3071400" cy="5331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Clr>
                <a:schemeClr val="dk2"/>
              </a:buClr>
              <a:buSzPts val="1100"/>
              <a:buNone/>
            </a:pPr>
            <a:r>
              <a:rPr b="1" lang="en" sz="2100">
                <a:solidFill>
                  <a:schemeClr val="dk1"/>
                </a:solidFill>
              </a:rPr>
              <a:t>Terrorism and Islam</a:t>
            </a:r>
            <a:endParaRPr b="1" sz="2100">
              <a:solidFill>
                <a:schemeClr val="dk1"/>
              </a:solidFill>
            </a:endParaRPr>
          </a:p>
        </p:txBody>
      </p:sp>
      <p:sp>
        <p:nvSpPr>
          <p:cNvPr id="105" name="Google Shape;105;p17"/>
          <p:cNvSpPr txBox="1"/>
          <p:nvPr/>
        </p:nvSpPr>
        <p:spPr>
          <a:xfrm>
            <a:off x="6639450" y="4691025"/>
            <a:ext cx="2082600" cy="2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latin typeface="Lato"/>
                <a:ea typeface="Lato"/>
                <a:cs typeface="Lato"/>
                <a:sym typeface="Lato"/>
              </a:rPr>
              <a:t>Sources: Morgan (2009)</a:t>
            </a:r>
            <a:endParaRPr sz="800">
              <a:solidFill>
                <a:schemeClr val="dk2"/>
              </a:solidFill>
              <a:latin typeface="Lato"/>
              <a:ea typeface="Lato"/>
              <a:cs typeface="Lato"/>
              <a:sym typeface="Lato"/>
            </a:endParaRPr>
          </a:p>
        </p:txBody>
      </p:sp>
      <p:sp>
        <p:nvSpPr>
          <p:cNvPr id="106" name="Google Shape;106;p17"/>
          <p:cNvSpPr txBox="1"/>
          <p:nvPr>
            <p:ph idx="1" type="body"/>
          </p:nvPr>
        </p:nvSpPr>
        <p:spPr>
          <a:xfrm>
            <a:off x="5650453" y="1602675"/>
            <a:ext cx="3071400" cy="3002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Religious</a:t>
            </a:r>
            <a:r>
              <a:rPr lang="en" sz="1600"/>
              <a:t> </a:t>
            </a:r>
            <a:r>
              <a:rPr lang="en" sz="1600"/>
              <a:t>extremism</a:t>
            </a:r>
            <a:r>
              <a:rPr lang="en" sz="1600"/>
              <a:t>  became related to terrorsim</a:t>
            </a:r>
            <a:endParaRPr sz="1600"/>
          </a:p>
          <a:p>
            <a:pPr indent="-330200" lvl="0" marL="457200" rtl="0" algn="l">
              <a:spcBef>
                <a:spcPts val="1200"/>
              </a:spcBef>
              <a:spcAft>
                <a:spcPts val="0"/>
              </a:spcAft>
              <a:buSzPts val="1600"/>
              <a:buChar char="●"/>
            </a:pPr>
            <a:r>
              <a:rPr lang="en" sz="1600"/>
              <a:t>Misinformation spread about Islam and its association with terrorism</a:t>
            </a:r>
            <a:endParaRPr sz="1600"/>
          </a:p>
          <a:p>
            <a:pPr indent="-330200" lvl="0" marL="457200" rtl="0" algn="l">
              <a:spcBef>
                <a:spcPts val="1200"/>
              </a:spcBef>
              <a:spcAft>
                <a:spcPts val="1200"/>
              </a:spcAft>
              <a:buSzPts val="1600"/>
              <a:buChar char="●"/>
            </a:pPr>
            <a:r>
              <a:rPr lang="en" sz="1600"/>
              <a:t>Islam labeled as a </a:t>
            </a:r>
            <a:r>
              <a:rPr lang="en" sz="1600"/>
              <a:t>religion</a:t>
            </a:r>
            <a:r>
              <a:rPr lang="en" sz="1600"/>
              <a:t> of violence while </a:t>
            </a:r>
            <a:r>
              <a:rPr lang="en" sz="1600"/>
              <a:t>historical</a:t>
            </a:r>
            <a:r>
              <a:rPr lang="en" sz="1600"/>
              <a:t> violence of </a:t>
            </a:r>
            <a:r>
              <a:rPr lang="en" sz="1600"/>
              <a:t>Christianity</a:t>
            </a:r>
            <a:r>
              <a:rPr lang="en" sz="1600"/>
              <a:t> denied or downplayed</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8"/>
          <p:cNvSpPr txBox="1"/>
          <p:nvPr>
            <p:ph type="title"/>
          </p:nvPr>
        </p:nvSpPr>
        <p:spPr>
          <a:xfrm>
            <a:off x="1428700" y="442600"/>
            <a:ext cx="6321600" cy="63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a:t>
            </a:r>
            <a:r>
              <a:rPr lang="en"/>
              <a:t>hilosophy</a:t>
            </a:r>
            <a:endParaRPr/>
          </a:p>
        </p:txBody>
      </p:sp>
      <p:sp>
        <p:nvSpPr>
          <p:cNvPr id="112" name="Google Shape;112;p18"/>
          <p:cNvSpPr txBox="1"/>
          <p:nvPr/>
        </p:nvSpPr>
        <p:spPr>
          <a:xfrm>
            <a:off x="6639450" y="4691025"/>
            <a:ext cx="2159400" cy="2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sz="800">
                <a:solidFill>
                  <a:schemeClr val="dk2"/>
                </a:solidFill>
                <a:latin typeface="Lato"/>
                <a:ea typeface="Lato"/>
                <a:cs typeface="Lato"/>
                <a:sym typeface="Lato"/>
              </a:rPr>
              <a:t>Sources: Rockmore (2011),Morgan (2009)</a:t>
            </a:r>
            <a:endParaRPr sz="800">
              <a:solidFill>
                <a:schemeClr val="dk2"/>
              </a:solidFill>
              <a:latin typeface="Lato"/>
              <a:ea typeface="Lato"/>
              <a:cs typeface="Lato"/>
              <a:sym typeface="Lato"/>
            </a:endParaRPr>
          </a:p>
          <a:p>
            <a:pPr indent="0" lvl="0" marL="0" rtl="0" algn="l">
              <a:spcBef>
                <a:spcPts val="0"/>
              </a:spcBef>
              <a:spcAft>
                <a:spcPts val="0"/>
              </a:spcAft>
              <a:buNone/>
            </a:pPr>
            <a:r>
              <a:t/>
            </a:r>
            <a:endParaRPr sz="800">
              <a:solidFill>
                <a:schemeClr val="dk2"/>
              </a:solidFill>
              <a:latin typeface="Lato"/>
              <a:ea typeface="Lato"/>
              <a:cs typeface="Lato"/>
              <a:sym typeface="Lato"/>
            </a:endParaRPr>
          </a:p>
        </p:txBody>
      </p:sp>
      <p:sp>
        <p:nvSpPr>
          <p:cNvPr id="113" name="Google Shape;113;p18"/>
          <p:cNvSpPr txBox="1"/>
          <p:nvPr>
            <p:ph idx="1" type="body"/>
          </p:nvPr>
        </p:nvSpPr>
        <p:spPr>
          <a:xfrm>
            <a:off x="1209675" y="1000125"/>
            <a:ext cx="2362200" cy="3681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100">
                <a:solidFill>
                  <a:schemeClr val="dk1"/>
                </a:solidFill>
              </a:rPr>
              <a:t>Liberty &amp; Security</a:t>
            </a:r>
            <a:endParaRPr b="1" sz="2100">
              <a:solidFill>
                <a:schemeClr val="dk1"/>
              </a:solidFill>
            </a:endParaRPr>
          </a:p>
          <a:p>
            <a:pPr indent="-330200" lvl="0" marL="457200" rtl="0" algn="l">
              <a:spcBef>
                <a:spcPts val="1600"/>
              </a:spcBef>
              <a:spcAft>
                <a:spcPts val="0"/>
              </a:spcAft>
              <a:buSzPts val="1600"/>
              <a:buChar char="●"/>
            </a:pPr>
            <a:r>
              <a:rPr lang="en" sz="1600"/>
              <a:t>How much freedom should be </a:t>
            </a:r>
            <a:r>
              <a:rPr lang="en" sz="1600"/>
              <a:t>sacrificed</a:t>
            </a:r>
            <a:r>
              <a:rPr lang="en" sz="1600"/>
              <a:t> for security</a:t>
            </a:r>
            <a:endParaRPr sz="1600"/>
          </a:p>
          <a:p>
            <a:pPr indent="-330200" lvl="0" marL="457200" rtl="0" algn="l">
              <a:spcBef>
                <a:spcPts val="1200"/>
              </a:spcBef>
              <a:spcAft>
                <a:spcPts val="1200"/>
              </a:spcAft>
              <a:buSzPts val="1600"/>
              <a:buChar char="●"/>
            </a:pPr>
            <a:r>
              <a:rPr lang="en" sz="1600"/>
              <a:t>Concerns about civil liberties caused by expanded </a:t>
            </a:r>
            <a:r>
              <a:rPr lang="en" sz="1600"/>
              <a:t>surveillance</a:t>
            </a:r>
            <a:r>
              <a:rPr lang="en" sz="1600"/>
              <a:t> and </a:t>
            </a:r>
            <a:r>
              <a:rPr lang="en" sz="1600"/>
              <a:t>security</a:t>
            </a:r>
            <a:r>
              <a:rPr lang="en" sz="1600"/>
              <a:t> measures</a:t>
            </a:r>
            <a:endParaRPr sz="1600"/>
          </a:p>
        </p:txBody>
      </p:sp>
      <p:sp>
        <p:nvSpPr>
          <p:cNvPr id="114" name="Google Shape;114;p18"/>
          <p:cNvSpPr txBox="1"/>
          <p:nvPr>
            <p:ph idx="1" type="body"/>
          </p:nvPr>
        </p:nvSpPr>
        <p:spPr>
          <a:xfrm>
            <a:off x="3514725" y="1010025"/>
            <a:ext cx="2314500" cy="3681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100">
                <a:solidFill>
                  <a:schemeClr val="dk1"/>
                </a:solidFill>
              </a:rPr>
              <a:t>Ethics of War &amp; Counterterrorism</a:t>
            </a:r>
            <a:endParaRPr b="1" sz="2100">
              <a:solidFill>
                <a:schemeClr val="dk1"/>
              </a:solidFill>
            </a:endParaRPr>
          </a:p>
          <a:p>
            <a:pPr indent="-330200" lvl="0" marL="457200" rtl="0" algn="l">
              <a:spcBef>
                <a:spcPts val="1600"/>
              </a:spcBef>
              <a:spcAft>
                <a:spcPts val="0"/>
              </a:spcAft>
              <a:buSzPts val="1600"/>
              <a:buChar char="●"/>
            </a:pPr>
            <a:r>
              <a:rPr lang="en" sz="1600"/>
              <a:t>Philosophers debated if military responses to terrorism morally justified</a:t>
            </a:r>
            <a:endParaRPr sz="1600"/>
          </a:p>
          <a:p>
            <a:pPr indent="-330200" lvl="0" marL="457200" rtl="0" algn="l">
              <a:spcBef>
                <a:spcPts val="1200"/>
              </a:spcBef>
              <a:spcAft>
                <a:spcPts val="1200"/>
              </a:spcAft>
              <a:buSzPts val="1600"/>
              <a:buChar char="●"/>
            </a:pPr>
            <a:r>
              <a:rPr lang="en" sz="1600"/>
              <a:t>Questions regarding torture, detention and human rights</a:t>
            </a:r>
            <a:endParaRPr sz="1600"/>
          </a:p>
        </p:txBody>
      </p:sp>
      <p:sp>
        <p:nvSpPr>
          <p:cNvPr id="115" name="Google Shape;115;p18"/>
          <p:cNvSpPr txBox="1"/>
          <p:nvPr>
            <p:ph idx="1" type="body"/>
          </p:nvPr>
        </p:nvSpPr>
        <p:spPr>
          <a:xfrm>
            <a:off x="5810175" y="1010025"/>
            <a:ext cx="2257500" cy="3681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100">
                <a:solidFill>
                  <a:schemeClr val="dk1"/>
                </a:solidFill>
              </a:rPr>
              <a:t>Understanding Terrorism</a:t>
            </a:r>
            <a:endParaRPr b="1" sz="2100">
              <a:solidFill>
                <a:schemeClr val="dk1"/>
              </a:solidFill>
            </a:endParaRPr>
          </a:p>
          <a:p>
            <a:pPr indent="-330200" lvl="0" marL="457200" rtl="0" algn="l">
              <a:spcBef>
                <a:spcPts val="1600"/>
              </a:spcBef>
              <a:spcAft>
                <a:spcPts val="0"/>
              </a:spcAft>
              <a:buSzPts val="1600"/>
              <a:buChar char="●"/>
            </a:pPr>
            <a:r>
              <a:rPr lang="en" sz="1600"/>
              <a:t>Philosophers sought to understand terrorism without justifying it</a:t>
            </a:r>
            <a:endParaRPr sz="1600"/>
          </a:p>
          <a:p>
            <a:pPr indent="-330200" lvl="0" marL="457200" rtl="0" algn="l">
              <a:spcBef>
                <a:spcPts val="1200"/>
              </a:spcBef>
              <a:spcAft>
                <a:spcPts val="1200"/>
              </a:spcAft>
              <a:buSzPts val="1600"/>
              <a:buChar char="●"/>
            </a:pPr>
            <a:r>
              <a:rPr lang="en" sz="1600"/>
              <a:t> Debates focused on </a:t>
            </a:r>
            <a:r>
              <a:rPr lang="en" sz="1600"/>
              <a:t>ideology</a:t>
            </a:r>
            <a:r>
              <a:rPr lang="en" sz="1600"/>
              <a:t> injustice, and political violence</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9"/>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2"/>
              </a:buClr>
              <a:buSzPts val="1100"/>
              <a:buFont typeface="Arial"/>
              <a:buNone/>
            </a:pPr>
            <a:r>
              <a:rPr lang="en"/>
              <a:t>F</a:t>
            </a:r>
            <a:r>
              <a:rPr lang="en"/>
              <a:t>ine Arts</a:t>
            </a:r>
            <a:endParaRPr/>
          </a:p>
        </p:txBody>
      </p:sp>
      <p:sp>
        <p:nvSpPr>
          <p:cNvPr id="121" name="Google Shape;121;p19"/>
          <p:cNvSpPr txBox="1"/>
          <p:nvPr>
            <p:ph idx="1" type="body"/>
          </p:nvPr>
        </p:nvSpPr>
        <p:spPr>
          <a:xfrm>
            <a:off x="2400250" y="1211350"/>
            <a:ext cx="3071400" cy="347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dk1"/>
                </a:solidFill>
              </a:rPr>
              <a:t>Evolution From </a:t>
            </a:r>
            <a:r>
              <a:rPr b="1" lang="en" sz="2100">
                <a:solidFill>
                  <a:schemeClr val="dk1"/>
                </a:solidFill>
              </a:rPr>
              <a:t>Initial</a:t>
            </a:r>
            <a:r>
              <a:rPr b="1" lang="en" sz="2100">
                <a:solidFill>
                  <a:schemeClr val="dk1"/>
                </a:solidFill>
              </a:rPr>
              <a:t> Response To Interpretation</a:t>
            </a:r>
            <a:endParaRPr b="1" sz="2100">
              <a:solidFill>
                <a:schemeClr val="dk1"/>
              </a:solidFill>
            </a:endParaRPr>
          </a:p>
          <a:p>
            <a:pPr indent="-330200" lvl="0" marL="457200" rtl="0" algn="l">
              <a:spcBef>
                <a:spcPts val="1600"/>
              </a:spcBef>
              <a:spcAft>
                <a:spcPts val="0"/>
              </a:spcAft>
              <a:buSzPts val="1600"/>
              <a:buChar char="●"/>
            </a:pPr>
            <a:r>
              <a:rPr lang="en" sz="1600"/>
              <a:t>Early artwork focused capturing scale and </a:t>
            </a:r>
            <a:r>
              <a:rPr lang="en" sz="1600"/>
              <a:t>emotional</a:t>
            </a:r>
            <a:r>
              <a:rPr lang="en" sz="1600"/>
              <a:t> impact of the destruction</a:t>
            </a:r>
            <a:endParaRPr sz="1600"/>
          </a:p>
          <a:p>
            <a:pPr indent="-330200" lvl="0" marL="457200" rtl="0" algn="l">
              <a:spcBef>
                <a:spcPts val="1200"/>
              </a:spcBef>
              <a:spcAft>
                <a:spcPts val="1200"/>
              </a:spcAft>
              <a:buSzPts val="1600"/>
              <a:buChar char="●"/>
            </a:pPr>
            <a:r>
              <a:rPr lang="en" sz="1600"/>
              <a:t>Shifted to commentary on war &amp; terrorism</a:t>
            </a:r>
            <a:endParaRPr sz="1600"/>
          </a:p>
        </p:txBody>
      </p:sp>
      <p:sp>
        <p:nvSpPr>
          <p:cNvPr id="122" name="Google Shape;122;p19"/>
          <p:cNvSpPr txBox="1"/>
          <p:nvPr>
            <p:ph idx="2" type="body"/>
          </p:nvPr>
        </p:nvSpPr>
        <p:spPr>
          <a:xfrm>
            <a:off x="5650575" y="1211350"/>
            <a:ext cx="3071400" cy="347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dk1"/>
                </a:solidFill>
              </a:rPr>
              <a:t>Self-Censorship</a:t>
            </a:r>
            <a:endParaRPr b="1" sz="2100">
              <a:solidFill>
                <a:schemeClr val="dk1"/>
              </a:solidFill>
            </a:endParaRPr>
          </a:p>
          <a:p>
            <a:pPr indent="-330200" lvl="0" marL="457200" rtl="0" algn="l">
              <a:spcBef>
                <a:spcPts val="1600"/>
              </a:spcBef>
              <a:spcAft>
                <a:spcPts val="0"/>
              </a:spcAft>
              <a:buSzPts val="1600"/>
              <a:buChar char="●"/>
            </a:pPr>
            <a:r>
              <a:rPr lang="en" sz="1600"/>
              <a:t>Terrorist </a:t>
            </a:r>
            <a:r>
              <a:rPr lang="en" sz="1600"/>
              <a:t>portrayed</a:t>
            </a:r>
            <a:r>
              <a:rPr lang="en" sz="1600"/>
              <a:t> </a:t>
            </a:r>
            <a:r>
              <a:rPr lang="en" sz="1600"/>
              <a:t>through</a:t>
            </a:r>
            <a:r>
              <a:rPr lang="en" sz="1600"/>
              <a:t> </a:t>
            </a:r>
            <a:r>
              <a:rPr lang="en" sz="1600"/>
              <a:t>satire</a:t>
            </a:r>
            <a:r>
              <a:rPr lang="en" sz="1600"/>
              <a:t> and caricatures</a:t>
            </a:r>
            <a:endParaRPr sz="1600"/>
          </a:p>
          <a:p>
            <a:pPr indent="-330200" lvl="0" marL="457200" rtl="0" algn="l">
              <a:spcBef>
                <a:spcPts val="1200"/>
              </a:spcBef>
              <a:spcAft>
                <a:spcPts val="0"/>
              </a:spcAft>
              <a:buSzPts val="1600"/>
              <a:buChar char="●"/>
            </a:pPr>
            <a:r>
              <a:rPr lang="en" sz="1600"/>
              <a:t>Moral judgements began to be avoid after violence </a:t>
            </a:r>
            <a:r>
              <a:rPr lang="en" sz="1600"/>
              <a:t>against</a:t>
            </a:r>
            <a:r>
              <a:rPr lang="en" sz="1600"/>
              <a:t> artists</a:t>
            </a:r>
            <a:endParaRPr sz="1600"/>
          </a:p>
          <a:p>
            <a:pPr indent="-330200" lvl="0" marL="457200" rtl="0" algn="l">
              <a:spcBef>
                <a:spcPts val="1200"/>
              </a:spcBef>
              <a:spcAft>
                <a:spcPts val="1200"/>
              </a:spcAft>
              <a:buSzPts val="1600"/>
              <a:buChar char="●"/>
            </a:pPr>
            <a:r>
              <a:rPr lang="en" sz="1600"/>
              <a:t>Reflected the changing </a:t>
            </a:r>
            <a:r>
              <a:rPr lang="en" sz="1600"/>
              <a:t>public</a:t>
            </a:r>
            <a:r>
              <a:rPr lang="en" sz="1600"/>
              <a:t> </a:t>
            </a:r>
            <a:r>
              <a:rPr lang="en" sz="1600"/>
              <a:t>opinion</a:t>
            </a:r>
            <a:r>
              <a:rPr lang="en" sz="1600"/>
              <a:t> of terrorism and the War on Terrorism</a:t>
            </a:r>
            <a:endParaRPr sz="1600"/>
          </a:p>
        </p:txBody>
      </p:sp>
      <p:sp>
        <p:nvSpPr>
          <p:cNvPr id="123" name="Google Shape;123;p19"/>
          <p:cNvSpPr txBox="1"/>
          <p:nvPr/>
        </p:nvSpPr>
        <p:spPr>
          <a:xfrm>
            <a:off x="6639450" y="4691025"/>
            <a:ext cx="2082600" cy="2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latin typeface="Lato"/>
                <a:ea typeface="Lato"/>
                <a:cs typeface="Lato"/>
                <a:sym typeface="Lato"/>
              </a:rPr>
              <a:t>Sources:Jones &amp; Smith (2021)</a:t>
            </a:r>
            <a:endParaRPr sz="800">
              <a:solidFill>
                <a:schemeClr val="dk2"/>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265500" y="1912650"/>
            <a:ext cx="4045200" cy="131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Lasting Cultural Impacts of 9/11</a:t>
            </a:r>
            <a:endParaRPr/>
          </a:p>
        </p:txBody>
      </p:sp>
      <p:sp>
        <p:nvSpPr>
          <p:cNvPr id="129" name="Google Shape;129;p20"/>
          <p:cNvSpPr txBox="1"/>
          <p:nvPr>
            <p:ph idx="2" type="body"/>
          </p:nvPr>
        </p:nvSpPr>
        <p:spPr>
          <a:xfrm>
            <a:off x="4486275" y="66675"/>
            <a:ext cx="4572000" cy="4619700"/>
          </a:xfrm>
          <a:prstGeom prst="rect">
            <a:avLst/>
          </a:prstGeom>
        </p:spPr>
        <p:txBody>
          <a:bodyPr anchorCtr="0" anchor="ctr" bIns="91425" lIns="91425" spcFirstLastPara="1" rIns="91425" wrap="square" tIns="91425">
            <a:noAutofit/>
          </a:bodyPr>
          <a:lstStyle/>
          <a:p>
            <a:pPr indent="-311150" lvl="0" marL="457200" rtl="0" algn="l">
              <a:spcBef>
                <a:spcPts val="0"/>
              </a:spcBef>
              <a:spcAft>
                <a:spcPts val="0"/>
              </a:spcAft>
              <a:buSzPts val="1300"/>
              <a:buChar char="●"/>
            </a:pPr>
            <a:r>
              <a:rPr lang="en" sz="1300"/>
              <a:t>Transformed</a:t>
            </a:r>
            <a:r>
              <a:rPr lang="en" sz="1300"/>
              <a:t> American society beyond the attacks themselves</a:t>
            </a:r>
            <a:endParaRPr sz="1300"/>
          </a:p>
          <a:p>
            <a:pPr indent="-311150" lvl="0" marL="457200" rtl="0" algn="l">
              <a:spcBef>
                <a:spcPts val="1600"/>
              </a:spcBef>
              <a:spcAft>
                <a:spcPts val="0"/>
              </a:spcAft>
              <a:buSzPts val="1300"/>
              <a:buChar char="●"/>
            </a:pPr>
            <a:r>
              <a:rPr lang="en" sz="1300"/>
              <a:t>History reveals changes to security, foreign policy, and </a:t>
            </a:r>
            <a:r>
              <a:rPr lang="en" sz="1300"/>
              <a:t>governmental</a:t>
            </a:r>
            <a:r>
              <a:rPr lang="en" sz="1300"/>
              <a:t> powers</a:t>
            </a:r>
            <a:endParaRPr sz="1300"/>
          </a:p>
          <a:p>
            <a:pPr indent="-311150" lvl="0" marL="457200" rtl="0" algn="l">
              <a:spcBef>
                <a:spcPts val="1600"/>
              </a:spcBef>
              <a:spcAft>
                <a:spcPts val="0"/>
              </a:spcAft>
              <a:buSzPts val="1300"/>
              <a:buChar char="●"/>
            </a:pPr>
            <a:r>
              <a:rPr lang="en" sz="1300"/>
              <a:t>Literature preserved the </a:t>
            </a:r>
            <a:r>
              <a:rPr lang="en" sz="1300"/>
              <a:t>emotional</a:t>
            </a:r>
            <a:r>
              <a:rPr lang="en" sz="1300"/>
              <a:t> and psychological impacts</a:t>
            </a:r>
            <a:endParaRPr sz="1300"/>
          </a:p>
          <a:p>
            <a:pPr indent="-311150" lvl="0" marL="457200" rtl="0" algn="l">
              <a:spcBef>
                <a:spcPts val="1600"/>
              </a:spcBef>
              <a:spcAft>
                <a:spcPts val="0"/>
              </a:spcAft>
              <a:buSzPts val="1300"/>
              <a:buChar char="●"/>
            </a:pPr>
            <a:r>
              <a:rPr lang="en" sz="1300"/>
              <a:t>Religion shaped discussions about faith, violence and national </a:t>
            </a:r>
            <a:r>
              <a:rPr lang="en" sz="1300"/>
              <a:t>identity</a:t>
            </a:r>
            <a:endParaRPr sz="1300"/>
          </a:p>
          <a:p>
            <a:pPr indent="-311150" lvl="0" marL="457200" rtl="0" algn="l">
              <a:spcBef>
                <a:spcPts val="1600"/>
              </a:spcBef>
              <a:spcAft>
                <a:spcPts val="0"/>
              </a:spcAft>
              <a:buSzPts val="1300"/>
              <a:buChar char="●"/>
            </a:pPr>
            <a:r>
              <a:rPr lang="en" sz="1300"/>
              <a:t>Philosophy challenged society to reconsider freedom, security, justice, and mortality </a:t>
            </a:r>
            <a:endParaRPr sz="1300"/>
          </a:p>
          <a:p>
            <a:pPr indent="-311150" lvl="0" marL="457200" rtl="0" algn="l">
              <a:spcBef>
                <a:spcPts val="1600"/>
              </a:spcBef>
              <a:spcAft>
                <a:spcPts val="0"/>
              </a:spcAft>
              <a:buSzPts val="1300"/>
              <a:buChar char="●"/>
            </a:pPr>
            <a:r>
              <a:rPr lang="en" sz="1300"/>
              <a:t>Fine arts reflected changing perceptions of terrorism, war, and cultural memory</a:t>
            </a:r>
            <a:endParaRPr sz="1300"/>
          </a:p>
          <a:p>
            <a:pPr indent="-311150" lvl="0" marL="457200" rtl="0" algn="l">
              <a:spcBef>
                <a:spcPts val="1600"/>
              </a:spcBef>
              <a:spcAft>
                <a:spcPts val="1600"/>
              </a:spcAft>
              <a:buSzPts val="1300"/>
              <a:buChar char="●"/>
            </a:pPr>
            <a:r>
              <a:rPr lang="en" sz="1300"/>
              <a:t>The influence of 9/11 continues to shape American culture more  than two decades later</a:t>
            </a:r>
            <a:endParaRPr sz="1300"/>
          </a:p>
        </p:txBody>
      </p:sp>
      <p:sp>
        <p:nvSpPr>
          <p:cNvPr id="130" name="Google Shape;130;p20"/>
          <p:cNvSpPr txBox="1"/>
          <p:nvPr/>
        </p:nvSpPr>
        <p:spPr>
          <a:xfrm>
            <a:off x="6639450" y="4691025"/>
            <a:ext cx="2418900" cy="4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latin typeface="Lato"/>
                <a:ea typeface="Lato"/>
                <a:cs typeface="Lato"/>
                <a:sym typeface="Lato"/>
              </a:rPr>
              <a:t>Sources:</a:t>
            </a:r>
            <a:r>
              <a:rPr lang="en" sz="800">
                <a:solidFill>
                  <a:schemeClr val="dk2"/>
                </a:solidFill>
                <a:latin typeface="Lato"/>
                <a:ea typeface="Lato"/>
                <a:cs typeface="Lato"/>
                <a:sym typeface="Lato"/>
              </a:rPr>
              <a:t>Charters (2007); Dudziak (2012); DeRosa (2011); Eikonsalo (2025); Morgan (2009); Rockmore (2011); Jones &amp; Smith (2021)</a:t>
            </a:r>
            <a:endParaRPr sz="800">
              <a:solidFill>
                <a:schemeClr val="dk2"/>
              </a:solidFill>
              <a:latin typeface="Lato"/>
              <a:ea typeface="Lato"/>
              <a:cs typeface="Lato"/>
              <a:sym typeface="Lato"/>
            </a:endParaRPr>
          </a:p>
          <a:p>
            <a:pPr indent="0" lvl="0" marL="0" rtl="0" algn="l">
              <a:spcBef>
                <a:spcPts val="0"/>
              </a:spcBef>
              <a:spcAft>
                <a:spcPts val="0"/>
              </a:spcAft>
              <a:buNone/>
            </a:pPr>
            <a:r>
              <a:t/>
            </a:r>
            <a:endParaRPr sz="800">
              <a:solidFill>
                <a:schemeClr val="dk2"/>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1"/>
          <p:cNvSpPr txBox="1"/>
          <p:nvPr>
            <p:ph type="title"/>
          </p:nvPr>
        </p:nvSpPr>
        <p:spPr>
          <a:xfrm>
            <a:off x="2654066" y="-62873"/>
            <a:ext cx="6321600" cy="63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References</a:t>
            </a:r>
            <a:endParaRPr/>
          </a:p>
        </p:txBody>
      </p:sp>
      <p:sp>
        <p:nvSpPr>
          <p:cNvPr id="136" name="Google Shape;136;p21"/>
          <p:cNvSpPr txBox="1"/>
          <p:nvPr>
            <p:ph idx="1" type="body"/>
          </p:nvPr>
        </p:nvSpPr>
        <p:spPr>
          <a:xfrm>
            <a:off x="46175" y="554059"/>
            <a:ext cx="9012600" cy="4257000"/>
          </a:xfrm>
          <a:prstGeom prst="rect">
            <a:avLst/>
          </a:prstGeom>
        </p:spPr>
        <p:txBody>
          <a:bodyPr anchorCtr="0" anchor="t" bIns="91425" lIns="91425" spcFirstLastPara="1" rIns="91425" wrap="square" tIns="91425">
            <a:noAutofit/>
          </a:bodyPr>
          <a:lstStyle/>
          <a:p>
            <a:pPr indent="-457200" lvl="0" marL="457200" rtl="0" algn="l">
              <a:lnSpc>
                <a:spcPct val="150000"/>
              </a:lnSpc>
              <a:spcBef>
                <a:spcPts val="1200"/>
              </a:spcBef>
              <a:spcAft>
                <a:spcPts val="0"/>
              </a:spcAft>
              <a:buClr>
                <a:schemeClr val="dk2"/>
              </a:buClr>
              <a:buSzPts val="1100"/>
              <a:buFont typeface="Arial"/>
              <a:buNone/>
            </a:pPr>
            <a:r>
              <a:rPr lang="en" sz="1200"/>
              <a:t>Charters, D. A. (2007). 9/11: Seven years into history. </a:t>
            </a:r>
            <a:r>
              <a:rPr i="1" lang="en" sz="1200"/>
              <a:t>The Journal of Conflict Studies, 11</a:t>
            </a:r>
            <a:r>
              <a:rPr lang="en" sz="1200"/>
              <a:t>(1).</a:t>
            </a:r>
            <a:r>
              <a:rPr lang="en" sz="1200">
                <a:uFill>
                  <a:noFill/>
                </a:uFill>
                <a:hlinkClick r:id="rId3"/>
              </a:rPr>
              <a:t> </a:t>
            </a:r>
            <a:r>
              <a:rPr lang="en" sz="1200" u="sng">
                <a:solidFill>
                  <a:srgbClr val="1155CC"/>
                </a:solidFill>
                <a:hlinkClick r:id="rId4">
                  <a:extLst>
                    <a:ext uri="{A12FA001-AC4F-418D-AE19-62706E023703}">
                      <ahyp:hlinkClr val="tx"/>
                    </a:ext>
                  </a:extLst>
                </a:hlinkClick>
              </a:rPr>
              <a:t>https://journals.lib.unb.ca/index.php/JCS/article/view/10539/13299</a:t>
            </a:r>
            <a:endParaRPr sz="1200" u="sng">
              <a:solidFill>
                <a:srgbClr val="1155CC"/>
              </a:solidFill>
            </a:endParaRPr>
          </a:p>
          <a:p>
            <a:pPr indent="-457200" lvl="0" marL="457200" rtl="0" algn="l">
              <a:lnSpc>
                <a:spcPct val="150000"/>
              </a:lnSpc>
              <a:spcBef>
                <a:spcPts val="1200"/>
              </a:spcBef>
              <a:spcAft>
                <a:spcPts val="0"/>
              </a:spcAft>
              <a:buClr>
                <a:schemeClr val="dk2"/>
              </a:buClr>
              <a:buSzPts val="1100"/>
              <a:buFont typeface="Arial"/>
              <a:buNone/>
            </a:pPr>
            <a:r>
              <a:rPr lang="en" sz="1200"/>
              <a:t>DeRosa, A. (2011). Analyzing Literature after 9/11. MFS Modern Fiction Studies 57(3), 607-618. </a:t>
            </a:r>
            <a:r>
              <a:rPr lang="en" sz="1200" u="sng">
                <a:solidFill>
                  <a:srgbClr val="1155CC"/>
                </a:solidFill>
                <a:hlinkClick r:id="rId5">
                  <a:extLst>
                    <a:ext uri="{A12FA001-AC4F-418D-AE19-62706E023703}">
                      <ahyp:hlinkClr val="tx"/>
                    </a:ext>
                  </a:extLst>
                </a:hlinkClick>
              </a:rPr>
              <a:t>https://dx.doi.org/10.1353/mfs.2011.0063.</a:t>
            </a:r>
            <a:endParaRPr sz="1200"/>
          </a:p>
          <a:p>
            <a:pPr indent="-457200" lvl="0" marL="457200" rtl="0" algn="l">
              <a:lnSpc>
                <a:spcPct val="150000"/>
              </a:lnSpc>
              <a:spcBef>
                <a:spcPts val="1200"/>
              </a:spcBef>
              <a:spcAft>
                <a:spcPts val="0"/>
              </a:spcAft>
              <a:buClr>
                <a:schemeClr val="dk2"/>
              </a:buClr>
              <a:buSzPts val="1100"/>
              <a:buFont typeface="Arial"/>
              <a:buNone/>
            </a:pPr>
            <a:r>
              <a:rPr lang="en" sz="1200"/>
              <a:t>Dudziak, M. L. (2012). </a:t>
            </a:r>
            <a:r>
              <a:rPr i="1" lang="en" sz="1200"/>
              <a:t>War time: An idea, its history, its consequences</a:t>
            </a:r>
            <a:r>
              <a:rPr lang="en" sz="1200"/>
              <a:t>. Oxford University Press.</a:t>
            </a:r>
            <a:endParaRPr sz="1200"/>
          </a:p>
          <a:p>
            <a:pPr indent="-457200" lvl="0" marL="457200" rtl="0" algn="l">
              <a:lnSpc>
                <a:spcPct val="150000"/>
              </a:lnSpc>
              <a:spcBef>
                <a:spcPts val="1200"/>
              </a:spcBef>
              <a:spcAft>
                <a:spcPts val="0"/>
              </a:spcAft>
              <a:buClr>
                <a:schemeClr val="dk2"/>
              </a:buClr>
              <a:buSzPts val="1100"/>
              <a:buFont typeface="Arial"/>
              <a:buNone/>
            </a:pPr>
            <a:r>
              <a:rPr lang="en" sz="1200"/>
              <a:t>Eikonsalo, S. (2025). Why do they hate us? The motives behind terrorism in Don DeLillo’s </a:t>
            </a:r>
            <a:r>
              <a:rPr i="1" lang="en" sz="1200"/>
              <a:t>Falling Man</a:t>
            </a:r>
            <a:r>
              <a:rPr lang="en" sz="1200"/>
              <a:t> and John Updike’s </a:t>
            </a:r>
            <a:r>
              <a:rPr i="1" lang="en" sz="1200"/>
              <a:t>Terrorist</a:t>
            </a:r>
            <a:r>
              <a:rPr lang="en" sz="1200"/>
              <a:t>. </a:t>
            </a:r>
            <a:r>
              <a:rPr i="1" lang="en" sz="1200"/>
              <a:t>University of Bucharest Review. Literary and Cultural Studies Series, 15</a:t>
            </a:r>
            <a:r>
              <a:rPr lang="en" sz="1200"/>
              <a:t>(1), 16–28.</a:t>
            </a:r>
            <a:r>
              <a:rPr lang="en" sz="1200">
                <a:uFill>
                  <a:noFill/>
                </a:uFill>
                <a:hlinkClick r:id="rId6"/>
              </a:rPr>
              <a:t> </a:t>
            </a:r>
            <a:r>
              <a:rPr lang="en" sz="1200" u="sng">
                <a:solidFill>
                  <a:srgbClr val="1155CC"/>
                </a:solidFill>
                <a:hlinkClick r:id="rId7">
                  <a:extLst>
                    <a:ext uri="{A12FA001-AC4F-418D-AE19-62706E023703}">
                      <ahyp:hlinkClr val="tx"/>
                    </a:ext>
                  </a:extLst>
                </a:hlinkClick>
              </a:rPr>
              <a:t>https://doi.org/10.31178/UBR.15.1.2</a:t>
            </a:r>
            <a:endParaRPr sz="1200" u="sng">
              <a:solidFill>
                <a:srgbClr val="1155CC"/>
              </a:solidFill>
            </a:endParaRPr>
          </a:p>
          <a:p>
            <a:pPr indent="-457200" lvl="0" marL="457200" rtl="0" algn="l">
              <a:lnSpc>
                <a:spcPct val="150000"/>
              </a:lnSpc>
              <a:spcBef>
                <a:spcPts val="1200"/>
              </a:spcBef>
              <a:spcAft>
                <a:spcPts val="0"/>
              </a:spcAft>
              <a:buClr>
                <a:schemeClr val="dk2"/>
              </a:buClr>
              <a:buSzPts val="1100"/>
              <a:buFont typeface="Arial"/>
              <a:buNone/>
            </a:pPr>
            <a:r>
              <a:rPr lang="en" sz="1200"/>
              <a:t>Jones, D. M., &amp; Smith, M. L. R. (2021). The age of ambiguity: Art and the war on terror twenty years after 9/11. </a:t>
            </a:r>
            <a:r>
              <a:rPr i="1" lang="en" sz="1200"/>
              <a:t>Studies in Conflict &amp; Terrorism, 47</a:t>
            </a:r>
            <a:r>
              <a:rPr lang="en" sz="1200"/>
              <a:t>, 115–134.</a:t>
            </a:r>
            <a:r>
              <a:rPr lang="en" sz="1200">
                <a:uFill>
                  <a:noFill/>
                </a:uFill>
                <a:hlinkClick r:id="rId8"/>
              </a:rPr>
              <a:t> </a:t>
            </a:r>
            <a:r>
              <a:rPr lang="en" sz="1200" u="sng">
                <a:solidFill>
                  <a:srgbClr val="1155CC"/>
                </a:solidFill>
                <a:hlinkClick r:id="rId9">
                  <a:extLst>
                    <a:ext uri="{A12FA001-AC4F-418D-AE19-62706E023703}">
                      <ahyp:hlinkClr val="tx"/>
                    </a:ext>
                  </a:extLst>
                </a:hlinkClick>
              </a:rPr>
              <a:t>https://doi.org/10.1080/1057610X.2021.1943813</a:t>
            </a:r>
            <a:endParaRPr sz="1200" u="sng">
              <a:solidFill>
                <a:srgbClr val="1155CC"/>
              </a:solidFill>
            </a:endParaRPr>
          </a:p>
          <a:p>
            <a:pPr indent="-457200" lvl="0" marL="457200" rtl="0" algn="l">
              <a:lnSpc>
                <a:spcPct val="150000"/>
              </a:lnSpc>
              <a:spcBef>
                <a:spcPts val="1200"/>
              </a:spcBef>
              <a:spcAft>
                <a:spcPts val="0"/>
              </a:spcAft>
              <a:buClr>
                <a:schemeClr val="dk2"/>
              </a:buClr>
              <a:buSzPts val="1100"/>
              <a:buFont typeface="Arial"/>
              <a:buNone/>
            </a:pPr>
            <a:r>
              <a:rPr lang="en" sz="1200"/>
              <a:t>Morgan, M. J. (Ed.). (2009). </a:t>
            </a:r>
            <a:r>
              <a:rPr i="1" lang="en" sz="1200"/>
              <a:t>The impact of 9/11 on religion and philosophy: The day that changed everything?</a:t>
            </a:r>
            <a:r>
              <a:rPr lang="en" sz="1200"/>
              <a:t> Palgrave Macmillan.</a:t>
            </a:r>
            <a:endParaRPr sz="1200"/>
          </a:p>
          <a:p>
            <a:pPr indent="-457200" lvl="0" marL="457200" rtl="0" algn="l">
              <a:lnSpc>
                <a:spcPct val="150000"/>
              </a:lnSpc>
              <a:spcBef>
                <a:spcPts val="1200"/>
              </a:spcBef>
              <a:spcAft>
                <a:spcPts val="1200"/>
              </a:spcAft>
              <a:buNone/>
            </a:pPr>
            <a:r>
              <a:rPr lang="en" sz="1200"/>
              <a:t>Rockmore, T. (2011). </a:t>
            </a:r>
            <a:r>
              <a:rPr i="1" lang="en" sz="1200"/>
              <a:t>Before and after 9/11: A philosophical examination of globalization, terror, and history</a:t>
            </a:r>
            <a:r>
              <a:rPr lang="en" sz="1200"/>
              <a:t>. Continuum.</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